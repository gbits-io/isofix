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iso.gbits.io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9582" y="38810"/>
            <a:ext cx="7604836" cy="506588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0"/>
          <p:cNvSpPr/>
          <p:nvPr/>
        </p:nvSpPr>
        <p:spPr>
          <a:xfrm>
            <a:off x="365760" y="320040"/>
            <a:ext cx="2377440" cy="365761"/>
          </a:xfrm>
          <a:prstGeom prst="rect">
            <a:avLst/>
          </a:prstGeom>
          <a:solidFill>
            <a:srgbClr val="060D18">
              <a:alpha val="85000"/>
            </a:srgbClr>
          </a:solidFill>
          <a:ln w="12700">
            <a:solidFill>
              <a:srgbClr val="14F19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1"/>
          <p:cNvSpPr txBox="1"/>
          <p:nvPr/>
        </p:nvSpPr>
        <p:spPr>
          <a:xfrm>
            <a:off x="365760" y="420370"/>
            <a:ext cx="23774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400" sz="11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STABLEHACKS 2026</a:t>
            </a:r>
          </a:p>
        </p:txBody>
      </p:sp>
      <p:sp>
        <p:nvSpPr>
          <p:cNvPr id="23" name="Shape 2"/>
          <p:cNvSpPr/>
          <p:nvPr/>
        </p:nvSpPr>
        <p:spPr>
          <a:xfrm>
            <a:off x="6400800" y="320040"/>
            <a:ext cx="2377440" cy="365761"/>
          </a:xfrm>
          <a:prstGeom prst="rect">
            <a:avLst/>
          </a:prstGeom>
          <a:solidFill>
            <a:srgbClr val="060D18">
              <a:alpha val="85000"/>
            </a:srgbClr>
          </a:solidFill>
          <a:ln w="12700">
            <a:solidFill>
              <a:srgbClr val="14F19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3"/>
          <p:cNvSpPr txBox="1"/>
          <p:nvPr/>
        </p:nvSpPr>
        <p:spPr>
          <a:xfrm>
            <a:off x="6400800" y="401320"/>
            <a:ext cx="237744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iso.gbits.io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9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06 — TEAM &amp; TRACK RECORD</a:t>
            </a:r>
          </a:p>
        </p:txBody>
      </p:sp>
      <p:sp>
        <p:nvSpPr>
          <p:cNvPr id="27" name="Text 1"/>
          <p:cNvSpPr txBox="1"/>
          <p:nvPr/>
        </p:nvSpPr>
        <p:spPr>
          <a:xfrm>
            <a:off x="457200" y="640080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F4F7FB"/>
                </a:solidFill>
              </a:defRPr>
            </a:lvl1pPr>
          </a:lstStyle>
          <a:p>
            <a:pPr/>
            <a:r>
              <a:t>Team Gbits</a:t>
            </a:r>
          </a:p>
        </p:txBody>
      </p:sp>
      <p:sp>
        <p:nvSpPr>
          <p:cNvPr id="28" name="Shape 3"/>
          <p:cNvSpPr/>
          <p:nvPr/>
        </p:nvSpPr>
        <p:spPr>
          <a:xfrm>
            <a:off x="457200" y="1389379"/>
            <a:ext cx="2633473" cy="19659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6"/>
          <p:cNvSpPr txBox="1"/>
          <p:nvPr/>
        </p:nvSpPr>
        <p:spPr>
          <a:xfrm>
            <a:off x="548639" y="2485575"/>
            <a:ext cx="245059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4F7FB"/>
                </a:solidFill>
              </a:defRPr>
            </a:lvl1pPr>
          </a:lstStyle>
          <a:p>
            <a:pPr/>
            <a:r>
              <a:t>Roman Bischoff</a:t>
            </a:r>
          </a:p>
        </p:txBody>
      </p:sp>
      <p:sp>
        <p:nvSpPr>
          <p:cNvPr id="30" name="Text 7"/>
          <p:cNvSpPr txBox="1"/>
          <p:nvPr/>
        </p:nvSpPr>
        <p:spPr>
          <a:xfrm>
            <a:off x="548639" y="2730500"/>
            <a:ext cx="245059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Developer</a:t>
            </a:r>
          </a:p>
        </p:txBody>
      </p:sp>
      <p:sp>
        <p:nvSpPr>
          <p:cNvPr id="31" name="Text 8"/>
          <p:cNvSpPr txBox="1"/>
          <p:nvPr/>
        </p:nvSpPr>
        <p:spPr>
          <a:xfrm>
            <a:off x="548639" y="2953512"/>
            <a:ext cx="24505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900">
                <a:solidFill>
                  <a:srgbClr val="8090B0"/>
                </a:solidFill>
              </a:defRPr>
            </a:lvl1pPr>
          </a:lstStyle>
          <a:p>
            <a:pPr/>
            <a:r>
              <a:t>Zürich, Switzerland</a:t>
            </a:r>
          </a:p>
        </p:txBody>
      </p:sp>
      <p:sp>
        <p:nvSpPr>
          <p:cNvPr id="32" name="Text 9"/>
          <p:cNvSpPr txBox="1"/>
          <p:nvPr/>
        </p:nvSpPr>
        <p:spPr>
          <a:xfrm>
            <a:off x="548639" y="3158788"/>
            <a:ext cx="245059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B0BACA"/>
                </a:solidFill>
              </a:defRPr>
            </a:lvl1pPr>
          </a:lstStyle>
          <a:p>
            <a:pPr/>
            <a:r>
              <a:t>Trading, Payments, Solana</a:t>
            </a:r>
          </a:p>
        </p:txBody>
      </p:sp>
      <p:sp>
        <p:nvSpPr>
          <p:cNvPr id="33" name="Shape 10"/>
          <p:cNvSpPr/>
          <p:nvPr/>
        </p:nvSpPr>
        <p:spPr>
          <a:xfrm>
            <a:off x="3255264" y="1389379"/>
            <a:ext cx="2633473" cy="19659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13"/>
          <p:cNvSpPr txBox="1"/>
          <p:nvPr/>
        </p:nvSpPr>
        <p:spPr>
          <a:xfrm>
            <a:off x="3346703" y="2485575"/>
            <a:ext cx="24505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4F7FB"/>
                </a:solidFill>
              </a:defRPr>
            </a:lvl1pPr>
          </a:lstStyle>
          <a:p>
            <a:pPr/>
            <a:r>
              <a:t>Alexandr Kazakov</a:t>
            </a:r>
          </a:p>
        </p:txBody>
      </p:sp>
      <p:sp>
        <p:nvSpPr>
          <p:cNvPr id="35" name="Text 14"/>
          <p:cNvSpPr txBox="1"/>
          <p:nvPr/>
        </p:nvSpPr>
        <p:spPr>
          <a:xfrm>
            <a:off x="3346703" y="2730500"/>
            <a:ext cx="24505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Developer (remote)</a:t>
            </a:r>
          </a:p>
        </p:txBody>
      </p:sp>
      <p:sp>
        <p:nvSpPr>
          <p:cNvPr id="36" name="Text 15"/>
          <p:cNvSpPr txBox="1"/>
          <p:nvPr/>
        </p:nvSpPr>
        <p:spPr>
          <a:xfrm>
            <a:off x="3346703" y="2953512"/>
            <a:ext cx="24505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900">
                <a:solidFill>
                  <a:srgbClr val="8090B0"/>
                </a:solidFill>
              </a:defRPr>
            </a:lvl1pPr>
          </a:lstStyle>
          <a:p>
            <a:pPr/>
            <a:r>
              <a:t>Dubai</a:t>
            </a:r>
          </a:p>
        </p:txBody>
      </p:sp>
      <p:sp>
        <p:nvSpPr>
          <p:cNvPr id="37" name="Text 16"/>
          <p:cNvSpPr txBox="1"/>
          <p:nvPr/>
        </p:nvSpPr>
        <p:spPr>
          <a:xfrm>
            <a:off x="3346703" y="3158788"/>
            <a:ext cx="245059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B0BACA"/>
                </a:solidFill>
              </a:defRPr>
            </a:lvl1pPr>
          </a:lstStyle>
          <a:p>
            <a:pPr/>
            <a:r>
              <a:t>Web3 &amp; Solana specialist</a:t>
            </a:r>
          </a:p>
        </p:txBody>
      </p:sp>
      <p:sp>
        <p:nvSpPr>
          <p:cNvPr id="38" name="Shape 17"/>
          <p:cNvSpPr/>
          <p:nvPr/>
        </p:nvSpPr>
        <p:spPr>
          <a:xfrm>
            <a:off x="6053328" y="1389379"/>
            <a:ext cx="2633473" cy="19659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19"/>
          <p:cNvSpPr txBox="1"/>
          <p:nvPr/>
        </p:nvSpPr>
        <p:spPr>
          <a:xfrm>
            <a:off x="6981443" y="1813912"/>
            <a:ext cx="77724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060D18"/>
                </a:solidFill>
              </a:defRPr>
            </a:lvl1pPr>
          </a:lstStyle>
          <a:p>
            <a:pPr/>
            <a:r>
              <a:t>RS</a:t>
            </a:r>
          </a:p>
        </p:txBody>
      </p:sp>
      <p:sp>
        <p:nvSpPr>
          <p:cNvPr id="40" name="Text 20"/>
          <p:cNvSpPr txBox="1"/>
          <p:nvPr/>
        </p:nvSpPr>
        <p:spPr>
          <a:xfrm>
            <a:off x="6144767" y="2485575"/>
            <a:ext cx="245059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4F7FB"/>
                </a:solidFill>
              </a:defRPr>
            </a:lvl1pPr>
          </a:lstStyle>
          <a:p>
            <a:pPr/>
            <a:r>
              <a:t>Rosa Seok</a:t>
            </a:r>
          </a:p>
        </p:txBody>
      </p:sp>
      <p:sp>
        <p:nvSpPr>
          <p:cNvPr id="41" name="Text 21"/>
          <p:cNvSpPr txBox="1"/>
          <p:nvPr/>
        </p:nvSpPr>
        <p:spPr>
          <a:xfrm>
            <a:off x="6144767" y="2730500"/>
            <a:ext cx="245059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Business Development</a:t>
            </a:r>
          </a:p>
        </p:txBody>
      </p:sp>
      <p:sp>
        <p:nvSpPr>
          <p:cNvPr id="42" name="Text 22"/>
          <p:cNvSpPr txBox="1"/>
          <p:nvPr/>
        </p:nvSpPr>
        <p:spPr>
          <a:xfrm>
            <a:off x="6144767" y="2953512"/>
            <a:ext cx="24505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900">
                <a:solidFill>
                  <a:srgbClr val="8090B0"/>
                </a:solidFill>
              </a:defRPr>
            </a:lvl1pPr>
          </a:lstStyle>
          <a:p>
            <a:pPr/>
            <a:r>
              <a:t>South Korea &amp; Switzerland</a:t>
            </a:r>
          </a:p>
        </p:txBody>
      </p:sp>
      <p:sp>
        <p:nvSpPr>
          <p:cNvPr id="43" name="Text 23"/>
          <p:cNvSpPr txBox="1"/>
          <p:nvPr/>
        </p:nvSpPr>
        <p:spPr>
          <a:xfrm>
            <a:off x="6144767" y="3158788"/>
            <a:ext cx="245059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B0BACA"/>
                </a:solidFill>
              </a:defRPr>
            </a:lvl1pPr>
          </a:lstStyle>
          <a:p>
            <a:pPr/>
            <a:r>
              <a:t>8 years in crypto · Women in Web3</a:t>
            </a:r>
          </a:p>
        </p:txBody>
      </p:sp>
      <p:sp>
        <p:nvSpPr>
          <p:cNvPr id="44" name="Shape 24"/>
          <p:cNvSpPr/>
          <p:nvPr/>
        </p:nvSpPr>
        <p:spPr>
          <a:xfrm>
            <a:off x="457199" y="3683000"/>
            <a:ext cx="4046222" cy="50292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Shape 25"/>
          <p:cNvSpPr/>
          <p:nvPr/>
        </p:nvSpPr>
        <p:spPr>
          <a:xfrm>
            <a:off x="457199" y="3683000"/>
            <a:ext cx="4046222" cy="36577"/>
          </a:xfrm>
          <a:prstGeom prst="rect">
            <a:avLst/>
          </a:prstGeom>
          <a:solidFill>
            <a:srgbClr val="9945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26"/>
          <p:cNvSpPr txBox="1"/>
          <p:nvPr/>
        </p:nvSpPr>
        <p:spPr>
          <a:xfrm>
            <a:off x="594359" y="3769360"/>
            <a:ext cx="36576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🏆</a:t>
            </a:r>
          </a:p>
        </p:txBody>
      </p:sp>
      <p:sp>
        <p:nvSpPr>
          <p:cNvPr id="47" name="Text 27"/>
          <p:cNvSpPr txBox="1"/>
          <p:nvPr/>
        </p:nvSpPr>
        <p:spPr>
          <a:xfrm>
            <a:off x="1005839" y="3775886"/>
            <a:ext cx="34061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4F7FB"/>
                </a:solidFill>
              </a:defRPr>
            </a:lvl1pPr>
          </a:lstStyle>
          <a:p>
            <a:pPr/>
            <a:r>
              <a:t>Solana FM Track Winner</a:t>
            </a:r>
          </a:p>
        </p:txBody>
      </p:sp>
      <p:sp>
        <p:nvSpPr>
          <p:cNvPr id="48" name="Text 28"/>
          <p:cNvSpPr txBox="1"/>
          <p:nvPr/>
        </p:nvSpPr>
        <p:spPr>
          <a:xfrm>
            <a:off x="1005839" y="3976116"/>
            <a:ext cx="34061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0BACA"/>
                </a:solidFill>
              </a:defRPr>
            </a:lvl1pPr>
          </a:lstStyle>
          <a:p>
            <a:pPr/>
            <a:r>
              <a:t>Encode Hackathon 2024</a:t>
            </a:r>
          </a:p>
        </p:txBody>
      </p:sp>
      <p:sp>
        <p:nvSpPr>
          <p:cNvPr id="49" name="Shape 29"/>
          <p:cNvSpPr/>
          <p:nvPr/>
        </p:nvSpPr>
        <p:spPr>
          <a:xfrm>
            <a:off x="4640579" y="3683000"/>
            <a:ext cx="4046221" cy="50292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hape 30"/>
          <p:cNvSpPr/>
          <p:nvPr/>
        </p:nvSpPr>
        <p:spPr>
          <a:xfrm>
            <a:off x="4640579" y="3683000"/>
            <a:ext cx="4046221" cy="36577"/>
          </a:xfrm>
          <a:prstGeom prst="rect">
            <a:avLst/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31"/>
          <p:cNvSpPr txBox="1"/>
          <p:nvPr/>
        </p:nvSpPr>
        <p:spPr>
          <a:xfrm>
            <a:off x="4777740" y="3769360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🇨🇭</a:t>
            </a:r>
          </a:p>
        </p:txBody>
      </p:sp>
      <p:sp>
        <p:nvSpPr>
          <p:cNvPr id="52" name="Text 32"/>
          <p:cNvSpPr txBox="1"/>
          <p:nvPr/>
        </p:nvSpPr>
        <p:spPr>
          <a:xfrm>
            <a:off x="5189220" y="3775886"/>
            <a:ext cx="34061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4F7FB"/>
                </a:solidFill>
              </a:defRPr>
            </a:lvl1pPr>
          </a:lstStyle>
          <a:p>
            <a:pPr/>
            <a:r>
              <a:t>Blockchain Nation Switzerland — Winner 2024</a:t>
            </a:r>
          </a:p>
        </p:txBody>
      </p:sp>
      <p:sp>
        <p:nvSpPr>
          <p:cNvPr id="53" name="Text 33"/>
          <p:cNvSpPr txBox="1"/>
          <p:nvPr/>
        </p:nvSpPr>
        <p:spPr>
          <a:xfrm>
            <a:off x="5189220" y="3976116"/>
            <a:ext cx="34061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0BACA"/>
                </a:solidFill>
              </a:defRPr>
            </a:lvl1pPr>
          </a:lstStyle>
          <a:p>
            <a:pPr/>
            <a:r>
              <a:t>Innosuisse grant recipient</a:t>
            </a:r>
          </a:p>
        </p:txBody>
      </p:sp>
      <p:sp>
        <p:nvSpPr>
          <p:cNvPr id="54" name="Shape 34"/>
          <p:cNvSpPr/>
          <p:nvPr/>
        </p:nvSpPr>
        <p:spPr>
          <a:xfrm>
            <a:off x="2286000" y="4526279"/>
            <a:ext cx="2011680" cy="365761"/>
          </a:xfrm>
          <a:prstGeom prst="roundRect">
            <a:avLst>
              <a:gd name="adj" fmla="val 15000"/>
            </a:avLst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35"/>
          <p:cNvSpPr txBox="1"/>
          <p:nvPr/>
        </p:nvSpPr>
        <p:spPr>
          <a:xfrm>
            <a:off x="2286000" y="4630727"/>
            <a:ext cx="201167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60D18"/>
                </a:solidFill>
              </a:defRPr>
            </a:lvl1pPr>
          </a:lstStyle>
          <a:p>
            <a:pPr/>
            <a:r>
              <a:t>iso.gbits.io</a:t>
            </a:r>
          </a:p>
        </p:txBody>
      </p:sp>
      <p:sp>
        <p:nvSpPr>
          <p:cNvPr id="56" name="Shape 36"/>
          <p:cNvSpPr/>
          <p:nvPr/>
        </p:nvSpPr>
        <p:spPr>
          <a:xfrm>
            <a:off x="4846320" y="4526279"/>
            <a:ext cx="2011680" cy="365761"/>
          </a:xfrm>
          <a:prstGeom prst="roundRect">
            <a:avLst>
              <a:gd name="adj" fmla="val 15000"/>
            </a:avLst>
          </a:prstGeom>
          <a:solidFill>
            <a:srgbClr val="0F1A2E"/>
          </a:solidFill>
          <a:ln w="19050">
            <a:solidFill>
              <a:srgbClr val="14F19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37"/>
          <p:cNvSpPr txBox="1"/>
          <p:nvPr/>
        </p:nvSpPr>
        <p:spPr>
          <a:xfrm>
            <a:off x="4846320" y="4626609"/>
            <a:ext cx="201168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github.com/gbits-io</a:t>
            </a:r>
          </a:p>
        </p:txBody>
      </p:sp>
      <p:sp>
        <p:nvSpPr>
          <p:cNvPr id="58" name="Text 39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1 / 8</a:t>
            </a:r>
          </a:p>
        </p:txBody>
      </p:sp>
      <p:pic>
        <p:nvPicPr>
          <p:cNvPr id="59" name="rosa-circle.png" descr="rosa-circl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89583" y="1422097"/>
            <a:ext cx="960962" cy="959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alexander-circle.png" descr="alexander-circl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67116" y="1396957"/>
            <a:ext cx="1009768" cy="1009767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roman-circle.png" descr="roman-circl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83786" y="1411690"/>
            <a:ext cx="980300" cy="980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9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01 — CONTEXT</a:t>
            </a:r>
          </a:p>
        </p:txBody>
      </p:sp>
      <p:sp>
        <p:nvSpPr>
          <p:cNvPr id="64" name="Text 1"/>
          <p:cNvSpPr txBox="1"/>
          <p:nvPr/>
        </p:nvSpPr>
        <p:spPr>
          <a:xfrm>
            <a:off x="457200" y="640080"/>
            <a:ext cx="8229600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F4F7FB"/>
                </a:solidFill>
              </a:defRPr>
            </a:lvl1pPr>
          </a:lstStyle>
          <a:p>
            <a:pPr/>
            <a:r>
              <a:t>ISO 20022 — the financial messaging standard in TradFi</a:t>
            </a:r>
          </a:p>
        </p:txBody>
      </p:sp>
      <p:sp>
        <p:nvSpPr>
          <p:cNvPr id="65" name="Text 2"/>
          <p:cNvSpPr txBox="1"/>
          <p:nvPr/>
        </p:nvSpPr>
        <p:spPr>
          <a:xfrm>
            <a:off x="457200" y="4612439"/>
            <a:ext cx="82296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B0BACA"/>
                </a:solidFill>
              </a:defRPr>
            </a:lvl1pPr>
          </a:lstStyle>
          <a:p>
            <a:pPr/>
            <a:r>
              <a:t>It connects banks, corporates, ERPs, and portfolio managers.</a:t>
            </a:r>
          </a:p>
        </p:txBody>
      </p:sp>
      <p:sp>
        <p:nvSpPr>
          <p:cNvPr id="66" name="Shape 3"/>
          <p:cNvSpPr/>
          <p:nvPr/>
        </p:nvSpPr>
        <p:spPr>
          <a:xfrm>
            <a:off x="3657600" y="2514600"/>
            <a:ext cx="1828800" cy="868681"/>
          </a:xfrm>
          <a:prstGeom prst="rect">
            <a:avLst/>
          </a:prstGeom>
          <a:solidFill>
            <a:srgbClr val="0F1A2E"/>
          </a:solidFill>
          <a:ln w="31750">
            <a:solidFill>
              <a:srgbClr val="14F195"/>
            </a:solidFill>
          </a:ln>
          <a:effectLst>
            <a:outerShdw sx="100000" sy="100000" kx="0" ky="0" algn="b" rotWithShape="0" blurRad="152400" dist="50800" dir="16200000">
              <a:srgbClr val="14F195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" name="Shape 4"/>
          <p:cNvSpPr/>
          <p:nvPr/>
        </p:nvSpPr>
        <p:spPr>
          <a:xfrm>
            <a:off x="3657600" y="2514600"/>
            <a:ext cx="1828800" cy="45721"/>
          </a:xfrm>
          <a:prstGeom prst="rect">
            <a:avLst/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5"/>
          <p:cNvSpPr txBox="1"/>
          <p:nvPr/>
        </p:nvSpPr>
        <p:spPr>
          <a:xfrm>
            <a:off x="3657600" y="2713816"/>
            <a:ext cx="182880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4F195"/>
                </a:solidFill>
              </a:defRPr>
            </a:lvl1pPr>
          </a:lstStyle>
          <a:p>
            <a:pPr/>
            <a:r>
              <a:t>ISO 20022</a:t>
            </a:r>
          </a:p>
        </p:txBody>
      </p:sp>
      <p:sp>
        <p:nvSpPr>
          <p:cNvPr id="69" name="Text 6"/>
          <p:cNvSpPr txBox="1"/>
          <p:nvPr/>
        </p:nvSpPr>
        <p:spPr>
          <a:xfrm>
            <a:off x="3657600" y="3061402"/>
            <a:ext cx="18288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500">
                <a:solidFill>
                  <a:srgbClr val="70ED9D"/>
                </a:solidFill>
              </a:defRPr>
            </a:lvl1pPr>
          </a:lstStyle>
          <a:p>
            <a:pPr/>
            <a:r>
              <a:t>financial messaging</a:t>
            </a:r>
          </a:p>
        </p:txBody>
      </p:sp>
      <p:sp>
        <p:nvSpPr>
          <p:cNvPr id="70" name="Shape 7"/>
          <p:cNvSpPr/>
          <p:nvPr/>
        </p:nvSpPr>
        <p:spPr>
          <a:xfrm>
            <a:off x="457200" y="1783079"/>
            <a:ext cx="2834640" cy="9144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Shape 8"/>
          <p:cNvSpPr/>
          <p:nvPr/>
        </p:nvSpPr>
        <p:spPr>
          <a:xfrm>
            <a:off x="457200" y="1783079"/>
            <a:ext cx="2834640" cy="36577"/>
          </a:xfrm>
          <a:prstGeom prst="rect">
            <a:avLst/>
          </a:prstGeom>
          <a:solidFill>
            <a:srgbClr val="00D1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9"/>
          <p:cNvSpPr txBox="1"/>
          <p:nvPr/>
        </p:nvSpPr>
        <p:spPr>
          <a:xfrm>
            <a:off x="566927" y="1938019"/>
            <a:ext cx="36576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🏦</a:t>
            </a:r>
          </a:p>
        </p:txBody>
      </p:sp>
      <p:sp>
        <p:nvSpPr>
          <p:cNvPr id="73" name="Text 10"/>
          <p:cNvSpPr txBox="1"/>
          <p:nvPr/>
        </p:nvSpPr>
        <p:spPr>
          <a:xfrm>
            <a:off x="960119" y="1951535"/>
            <a:ext cx="2240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4F7FB"/>
                </a:solidFill>
              </a:defRPr>
            </a:lvl1pPr>
          </a:lstStyle>
          <a:p>
            <a:pPr/>
            <a:r>
              <a:t>Bank  ↔  Corporate Client</a:t>
            </a:r>
          </a:p>
        </p:txBody>
      </p:sp>
      <p:sp>
        <p:nvSpPr>
          <p:cNvPr id="74" name="Text 11"/>
          <p:cNvSpPr txBox="1"/>
          <p:nvPr/>
        </p:nvSpPr>
        <p:spPr>
          <a:xfrm>
            <a:off x="960119" y="2194604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BACA"/>
                </a:solidFill>
              </a:defRPr>
            </a:lvl1pPr>
          </a:lstStyle>
          <a:p>
            <a:pPr/>
            <a:r>
              <a:t>Statements, payments, notifications</a:t>
            </a:r>
          </a:p>
        </p:txBody>
      </p:sp>
      <p:sp>
        <p:nvSpPr>
          <p:cNvPr id="75" name="Text 12"/>
          <p:cNvSpPr txBox="1"/>
          <p:nvPr/>
        </p:nvSpPr>
        <p:spPr>
          <a:xfrm>
            <a:off x="960119" y="2409189"/>
            <a:ext cx="22402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22" sz="1100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camt.053  ·  pain.001</a:t>
            </a:r>
          </a:p>
        </p:txBody>
      </p:sp>
      <p:sp>
        <p:nvSpPr>
          <p:cNvPr id="76" name="Shape 13"/>
          <p:cNvSpPr/>
          <p:nvPr/>
        </p:nvSpPr>
        <p:spPr>
          <a:xfrm>
            <a:off x="5852159" y="1783079"/>
            <a:ext cx="2834641" cy="9144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14"/>
          <p:cNvSpPr/>
          <p:nvPr/>
        </p:nvSpPr>
        <p:spPr>
          <a:xfrm>
            <a:off x="5852159" y="1783079"/>
            <a:ext cx="2834641" cy="36577"/>
          </a:xfrm>
          <a:prstGeom prst="rect">
            <a:avLst/>
          </a:prstGeom>
          <a:solidFill>
            <a:srgbClr val="9945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15"/>
          <p:cNvSpPr txBox="1"/>
          <p:nvPr/>
        </p:nvSpPr>
        <p:spPr>
          <a:xfrm>
            <a:off x="5961888" y="1938019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🏦</a:t>
            </a:r>
          </a:p>
        </p:txBody>
      </p:sp>
      <p:sp>
        <p:nvSpPr>
          <p:cNvPr id="79" name="Text 16"/>
          <p:cNvSpPr txBox="1"/>
          <p:nvPr/>
        </p:nvSpPr>
        <p:spPr>
          <a:xfrm>
            <a:off x="6355079" y="1951535"/>
            <a:ext cx="2240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4F7FB"/>
                </a:solidFill>
              </a:defRPr>
            </a:lvl1pPr>
          </a:lstStyle>
          <a:p>
            <a:pPr/>
            <a:r>
              <a:t>Bank  ↔  Bank</a:t>
            </a:r>
          </a:p>
        </p:txBody>
      </p:sp>
      <p:sp>
        <p:nvSpPr>
          <p:cNvPr id="80" name="Text 17"/>
          <p:cNvSpPr txBox="1"/>
          <p:nvPr/>
        </p:nvSpPr>
        <p:spPr>
          <a:xfrm>
            <a:off x="6355079" y="2194604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BACA"/>
                </a:solidFill>
              </a:defRPr>
            </a:lvl1pPr>
          </a:lstStyle>
          <a:p>
            <a:pPr/>
            <a:r>
              <a:t>Interbank payment networks</a:t>
            </a:r>
          </a:p>
        </p:txBody>
      </p:sp>
      <p:sp>
        <p:nvSpPr>
          <p:cNvPr id="81" name="Text 18"/>
          <p:cNvSpPr txBox="1"/>
          <p:nvPr/>
        </p:nvSpPr>
        <p:spPr>
          <a:xfrm>
            <a:off x="6355079" y="2402839"/>
            <a:ext cx="23360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33" sz="1200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SIC,SEPA,SWIFT,FedNow</a:t>
            </a:r>
          </a:p>
        </p:txBody>
      </p:sp>
      <p:sp>
        <p:nvSpPr>
          <p:cNvPr id="82" name="Shape 19"/>
          <p:cNvSpPr/>
          <p:nvPr/>
        </p:nvSpPr>
        <p:spPr>
          <a:xfrm>
            <a:off x="457200" y="3520440"/>
            <a:ext cx="2834640" cy="9144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20"/>
          <p:cNvSpPr/>
          <p:nvPr/>
        </p:nvSpPr>
        <p:spPr>
          <a:xfrm>
            <a:off x="457200" y="3520440"/>
            <a:ext cx="2834640" cy="36577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21"/>
          <p:cNvSpPr txBox="1"/>
          <p:nvPr/>
        </p:nvSpPr>
        <p:spPr>
          <a:xfrm>
            <a:off x="566927" y="3675379"/>
            <a:ext cx="36576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⚙️</a:t>
            </a:r>
          </a:p>
        </p:txBody>
      </p:sp>
      <p:sp>
        <p:nvSpPr>
          <p:cNvPr id="85" name="Text 22"/>
          <p:cNvSpPr txBox="1"/>
          <p:nvPr/>
        </p:nvSpPr>
        <p:spPr>
          <a:xfrm>
            <a:off x="960119" y="3688895"/>
            <a:ext cx="2240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4F7FB"/>
                </a:solidFill>
              </a:defRPr>
            </a:lvl1pPr>
          </a:lstStyle>
          <a:p>
            <a:pPr/>
            <a:r>
              <a:t>ERP &amp; Accounting</a:t>
            </a:r>
          </a:p>
        </p:txBody>
      </p:sp>
      <p:sp>
        <p:nvSpPr>
          <p:cNvPr id="86" name="Text 23"/>
          <p:cNvSpPr txBox="1"/>
          <p:nvPr/>
        </p:nvSpPr>
        <p:spPr>
          <a:xfrm>
            <a:off x="960119" y="3931964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BACA"/>
                </a:solidFill>
              </a:defRPr>
            </a:lvl1pPr>
          </a:lstStyle>
          <a:p>
            <a:pPr/>
            <a:r>
              <a:t>Auto-import &amp; reconciliation</a:t>
            </a:r>
          </a:p>
        </p:txBody>
      </p:sp>
      <p:sp>
        <p:nvSpPr>
          <p:cNvPr id="87" name="Text 24"/>
          <p:cNvSpPr txBox="1"/>
          <p:nvPr/>
        </p:nvSpPr>
        <p:spPr>
          <a:xfrm>
            <a:off x="960119" y="4064000"/>
            <a:ext cx="224028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22" sz="11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SAP  ·  Oracle  ·  Bexio  ·  Abacus</a:t>
            </a:r>
          </a:p>
        </p:txBody>
      </p:sp>
      <p:sp>
        <p:nvSpPr>
          <p:cNvPr id="88" name="Shape 25"/>
          <p:cNvSpPr/>
          <p:nvPr/>
        </p:nvSpPr>
        <p:spPr>
          <a:xfrm>
            <a:off x="5852159" y="3520440"/>
            <a:ext cx="2834641" cy="9144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26"/>
          <p:cNvSpPr/>
          <p:nvPr/>
        </p:nvSpPr>
        <p:spPr>
          <a:xfrm>
            <a:off x="5852159" y="3520440"/>
            <a:ext cx="2834641" cy="36577"/>
          </a:xfrm>
          <a:prstGeom prst="rect">
            <a:avLst/>
          </a:prstGeom>
          <a:solidFill>
            <a:srgbClr val="F8717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27"/>
          <p:cNvSpPr txBox="1"/>
          <p:nvPr/>
        </p:nvSpPr>
        <p:spPr>
          <a:xfrm>
            <a:off x="5961888" y="3675379"/>
            <a:ext cx="3657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📊</a:t>
            </a:r>
          </a:p>
        </p:txBody>
      </p:sp>
      <p:sp>
        <p:nvSpPr>
          <p:cNvPr id="91" name="Text 28"/>
          <p:cNvSpPr txBox="1"/>
          <p:nvPr/>
        </p:nvSpPr>
        <p:spPr>
          <a:xfrm>
            <a:off x="6355079" y="3688895"/>
            <a:ext cx="2240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4F7FB"/>
                </a:solidFill>
              </a:defRPr>
            </a:lvl1pPr>
          </a:lstStyle>
          <a:p>
            <a:pPr/>
            <a:r>
              <a:t>Portfolio Mgmt Systems</a:t>
            </a:r>
          </a:p>
        </p:txBody>
      </p:sp>
      <p:sp>
        <p:nvSpPr>
          <p:cNvPr id="92" name="Text 29"/>
          <p:cNvSpPr txBox="1"/>
          <p:nvPr/>
        </p:nvSpPr>
        <p:spPr>
          <a:xfrm>
            <a:off x="6355079" y="3931964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B0BACA"/>
                </a:solidFill>
              </a:defRPr>
            </a:lvl1pPr>
          </a:lstStyle>
          <a:p>
            <a:pPr/>
            <a:r>
              <a:t>Holdings, custody, securities</a:t>
            </a:r>
          </a:p>
        </p:txBody>
      </p:sp>
      <p:sp>
        <p:nvSpPr>
          <p:cNvPr id="93" name="Text 30"/>
          <p:cNvSpPr txBox="1"/>
          <p:nvPr/>
        </p:nvSpPr>
        <p:spPr>
          <a:xfrm>
            <a:off x="6355079" y="4127499"/>
            <a:ext cx="22402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44" sz="13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semt.002 </a:t>
            </a:r>
          </a:p>
        </p:txBody>
      </p:sp>
      <p:sp>
        <p:nvSpPr>
          <p:cNvPr id="94" name="Shape 31"/>
          <p:cNvSpPr/>
          <p:nvPr/>
        </p:nvSpPr>
        <p:spPr>
          <a:xfrm>
            <a:off x="3291840" y="2240279"/>
            <a:ext cx="365761" cy="365761"/>
          </a:xfrm>
          <a:prstGeom prst="line">
            <a:avLst/>
          </a:prstGeom>
          <a:ln w="12700">
            <a:solidFill>
              <a:srgbClr val="1F2D45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Shape 32"/>
          <p:cNvSpPr/>
          <p:nvPr/>
        </p:nvSpPr>
        <p:spPr>
          <a:xfrm flipV="1">
            <a:off x="5495924" y="2259329"/>
            <a:ext cx="346712" cy="346711"/>
          </a:xfrm>
          <a:prstGeom prst="line">
            <a:avLst/>
          </a:prstGeom>
          <a:ln w="12700">
            <a:solidFill>
              <a:srgbClr val="1F2D45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Shape 33"/>
          <p:cNvSpPr/>
          <p:nvPr/>
        </p:nvSpPr>
        <p:spPr>
          <a:xfrm flipV="1">
            <a:off x="3291840" y="3304798"/>
            <a:ext cx="365761" cy="365761"/>
          </a:xfrm>
          <a:prstGeom prst="line">
            <a:avLst/>
          </a:prstGeom>
          <a:ln w="12700">
            <a:solidFill>
              <a:srgbClr val="1F2D45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Shape 34"/>
          <p:cNvSpPr/>
          <p:nvPr/>
        </p:nvSpPr>
        <p:spPr>
          <a:xfrm>
            <a:off x="5486399" y="3383279"/>
            <a:ext cx="365761" cy="137161"/>
          </a:xfrm>
          <a:prstGeom prst="line">
            <a:avLst/>
          </a:prstGeom>
          <a:ln w="12700">
            <a:solidFill>
              <a:srgbClr val="1F2D45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38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 / 8</a:t>
            </a:r>
          </a:p>
        </p:txBody>
      </p:sp>
      <p:sp>
        <p:nvSpPr>
          <p:cNvPr id="99" name="ISO 20022 is the successor to SWIFT MT messages"/>
          <p:cNvSpPr txBox="1"/>
          <p:nvPr/>
        </p:nvSpPr>
        <p:spPr>
          <a:xfrm>
            <a:off x="440003" y="1153159"/>
            <a:ext cx="3990509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B0BACA"/>
                </a:solidFill>
              </a:defRPr>
            </a:pPr>
            <a:r>
              <a:t>ISO 20022 is the successor to </a:t>
            </a:r>
            <a:r>
              <a:rPr b="1"/>
              <a:t>SWIFT MT messages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9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02 — THE VISION</a:t>
            </a:r>
          </a:p>
        </p:txBody>
      </p:sp>
      <p:sp>
        <p:nvSpPr>
          <p:cNvPr id="102" name="Text 1"/>
          <p:cNvSpPr txBox="1"/>
          <p:nvPr/>
        </p:nvSpPr>
        <p:spPr>
          <a:xfrm>
            <a:off x="457200" y="640080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F4F7FB"/>
                </a:solidFill>
              </a:defRPr>
            </a:lvl1pPr>
          </a:lstStyle>
          <a:p>
            <a:pPr/>
            <a:r>
              <a:t>Translate Stablecoin Payments into the TradFi language.</a:t>
            </a:r>
          </a:p>
        </p:txBody>
      </p:sp>
      <p:sp>
        <p:nvSpPr>
          <p:cNvPr id="103" name="Shape 3"/>
          <p:cNvSpPr/>
          <p:nvPr/>
        </p:nvSpPr>
        <p:spPr>
          <a:xfrm>
            <a:off x="457200" y="2296160"/>
            <a:ext cx="2194561" cy="1371601"/>
          </a:xfrm>
          <a:prstGeom prst="rect">
            <a:avLst/>
          </a:prstGeom>
          <a:solidFill>
            <a:srgbClr val="0F1A2E"/>
          </a:solidFill>
          <a:ln w="25400">
            <a:solidFill>
              <a:srgbClr val="9945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Shape 4"/>
          <p:cNvSpPr/>
          <p:nvPr/>
        </p:nvSpPr>
        <p:spPr>
          <a:xfrm>
            <a:off x="457200" y="2296160"/>
            <a:ext cx="2194561" cy="36577"/>
          </a:xfrm>
          <a:prstGeom prst="rect">
            <a:avLst/>
          </a:prstGeom>
          <a:solidFill>
            <a:srgbClr val="9945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5"/>
          <p:cNvSpPr txBox="1"/>
          <p:nvPr/>
        </p:nvSpPr>
        <p:spPr>
          <a:xfrm>
            <a:off x="457200" y="2410460"/>
            <a:ext cx="219456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pc="492" sz="1600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SOLANA</a:t>
            </a:r>
          </a:p>
          <a:p>
            <a:pPr algn="ctr">
              <a:defRPr b="1" spc="430" sz="1400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RPC Endpoint</a:t>
            </a:r>
          </a:p>
        </p:txBody>
      </p:sp>
      <p:sp>
        <p:nvSpPr>
          <p:cNvPr id="106" name="Text 6"/>
          <p:cNvSpPr txBox="1"/>
          <p:nvPr/>
        </p:nvSpPr>
        <p:spPr>
          <a:xfrm>
            <a:off x="457200" y="3127442"/>
            <a:ext cx="2194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B0BACA"/>
                </a:solidFill>
              </a:defRPr>
            </a:lvl1pPr>
          </a:lstStyle>
          <a:p>
            <a:pPr/>
            <a:r>
              <a:t>Stablecoin payments</a:t>
            </a:r>
          </a:p>
        </p:txBody>
      </p:sp>
      <p:sp>
        <p:nvSpPr>
          <p:cNvPr id="107" name="Shape 9"/>
          <p:cNvSpPr/>
          <p:nvPr/>
        </p:nvSpPr>
        <p:spPr>
          <a:xfrm>
            <a:off x="2743200" y="2981960"/>
            <a:ext cx="777241" cy="1"/>
          </a:xfrm>
          <a:prstGeom prst="line">
            <a:avLst/>
          </a:prstGeom>
          <a:ln w="25400">
            <a:solidFill>
              <a:srgbClr val="14F195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10"/>
          <p:cNvSpPr txBox="1"/>
          <p:nvPr/>
        </p:nvSpPr>
        <p:spPr>
          <a:xfrm>
            <a:off x="2697479" y="2658110"/>
            <a:ext cx="8686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350" sz="1400">
                <a:solidFill>
                  <a:srgbClr val="70ED9D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RPC</a:t>
            </a:r>
          </a:p>
        </p:txBody>
      </p:sp>
      <p:sp>
        <p:nvSpPr>
          <p:cNvPr id="109" name="Shape 11"/>
          <p:cNvSpPr/>
          <p:nvPr/>
        </p:nvSpPr>
        <p:spPr>
          <a:xfrm>
            <a:off x="3566159" y="2296160"/>
            <a:ext cx="2468881" cy="1371601"/>
          </a:xfrm>
          <a:prstGeom prst="rect">
            <a:avLst/>
          </a:prstGeom>
          <a:solidFill>
            <a:srgbClr val="0F1A2E"/>
          </a:solidFill>
          <a:ln w="31750">
            <a:solidFill>
              <a:srgbClr val="14F195"/>
            </a:solidFill>
          </a:ln>
          <a:effectLst>
            <a:outerShdw sx="100000" sy="100000" kx="0" ky="0" algn="b" rotWithShape="0" blurRad="152400" dist="50800" dir="16200000">
              <a:srgbClr val="14F195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" name="Shape 12"/>
          <p:cNvSpPr/>
          <p:nvPr/>
        </p:nvSpPr>
        <p:spPr>
          <a:xfrm>
            <a:off x="3566159" y="2296160"/>
            <a:ext cx="2468881" cy="45721"/>
          </a:xfrm>
          <a:prstGeom prst="rect">
            <a:avLst/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13"/>
          <p:cNvSpPr txBox="1"/>
          <p:nvPr/>
        </p:nvSpPr>
        <p:spPr>
          <a:xfrm>
            <a:off x="3566159" y="2518410"/>
            <a:ext cx="2468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492" sz="16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ISO 20022</a:t>
            </a:r>
          </a:p>
        </p:txBody>
      </p:sp>
      <p:sp>
        <p:nvSpPr>
          <p:cNvPr id="112" name="Text 14"/>
          <p:cNvSpPr txBox="1"/>
          <p:nvPr/>
        </p:nvSpPr>
        <p:spPr>
          <a:xfrm>
            <a:off x="3566159" y="2838449"/>
            <a:ext cx="2468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492" sz="16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GATEWAY</a:t>
            </a:r>
          </a:p>
        </p:txBody>
      </p:sp>
      <p:sp>
        <p:nvSpPr>
          <p:cNvPr id="113" name="Text 15"/>
          <p:cNvSpPr txBox="1"/>
          <p:nvPr/>
        </p:nvSpPr>
        <p:spPr>
          <a:xfrm>
            <a:off x="3566159" y="3160462"/>
            <a:ext cx="24688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B0BACA"/>
                </a:solidFill>
              </a:defRPr>
            </a:lvl1pPr>
          </a:lstStyle>
          <a:p>
            <a:pPr/>
            <a:r>
              <a:t>Translation engine</a:t>
            </a:r>
          </a:p>
        </p:txBody>
      </p:sp>
      <p:sp>
        <p:nvSpPr>
          <p:cNvPr id="114" name="Shape 17"/>
          <p:cNvSpPr/>
          <p:nvPr/>
        </p:nvSpPr>
        <p:spPr>
          <a:xfrm>
            <a:off x="6172200" y="2981960"/>
            <a:ext cx="777241" cy="1"/>
          </a:xfrm>
          <a:prstGeom prst="line">
            <a:avLst/>
          </a:prstGeom>
          <a:ln w="25400">
            <a:solidFill>
              <a:srgbClr val="14F195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18"/>
          <p:cNvSpPr txBox="1"/>
          <p:nvPr/>
        </p:nvSpPr>
        <p:spPr>
          <a:xfrm>
            <a:off x="6126479" y="2658110"/>
            <a:ext cx="8686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350" sz="1400">
                <a:solidFill>
                  <a:srgbClr val="70ED9D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XML</a:t>
            </a:r>
          </a:p>
        </p:txBody>
      </p:sp>
      <p:sp>
        <p:nvSpPr>
          <p:cNvPr id="116" name="Shape 19"/>
          <p:cNvSpPr/>
          <p:nvPr/>
        </p:nvSpPr>
        <p:spPr>
          <a:xfrm>
            <a:off x="6949440" y="2296160"/>
            <a:ext cx="2011680" cy="1371601"/>
          </a:xfrm>
          <a:prstGeom prst="rect">
            <a:avLst/>
          </a:prstGeom>
          <a:solidFill>
            <a:srgbClr val="0F1A2E"/>
          </a:solidFill>
          <a:ln w="25400">
            <a:solidFill>
              <a:srgbClr val="00D1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Shape 20"/>
          <p:cNvSpPr/>
          <p:nvPr/>
        </p:nvSpPr>
        <p:spPr>
          <a:xfrm>
            <a:off x="6949440" y="2296160"/>
            <a:ext cx="2011680" cy="36577"/>
          </a:xfrm>
          <a:prstGeom prst="rect">
            <a:avLst/>
          </a:prstGeom>
          <a:solidFill>
            <a:srgbClr val="00D1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21"/>
          <p:cNvSpPr txBox="1"/>
          <p:nvPr/>
        </p:nvSpPr>
        <p:spPr>
          <a:xfrm>
            <a:off x="6949440" y="2607310"/>
            <a:ext cx="201168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492" sz="1600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ERP </a:t>
            </a:r>
          </a:p>
        </p:txBody>
      </p:sp>
      <p:sp>
        <p:nvSpPr>
          <p:cNvPr id="119" name="Text 22"/>
          <p:cNvSpPr txBox="1"/>
          <p:nvPr/>
        </p:nvSpPr>
        <p:spPr>
          <a:xfrm>
            <a:off x="6949440" y="3127442"/>
            <a:ext cx="2011680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500">
                <a:solidFill>
                  <a:srgbClr val="B0BACA"/>
                </a:solidFill>
              </a:defRPr>
            </a:pPr>
            <a:r>
              <a:t>Accounting &amp;</a:t>
            </a:r>
          </a:p>
          <a:p>
            <a:pPr algn="ctr">
              <a:defRPr sz="1500">
                <a:solidFill>
                  <a:srgbClr val="B0BACA"/>
                </a:solidFill>
              </a:defRPr>
            </a:pPr>
            <a:r>
              <a:t>treasury</a:t>
            </a:r>
          </a:p>
        </p:txBody>
      </p:sp>
      <p:sp>
        <p:nvSpPr>
          <p:cNvPr id="120" name="Text 25"/>
          <p:cNvSpPr txBox="1"/>
          <p:nvPr/>
        </p:nvSpPr>
        <p:spPr>
          <a:xfrm>
            <a:off x="3063240" y="4012184"/>
            <a:ext cx="3474720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B2BAC8"/>
                </a:solidFill>
              </a:defRPr>
            </a:lvl1pPr>
          </a:lstStyle>
          <a:p>
            <a:pPr/>
            <a:r>
              <a:t>Bidirectional bridge</a:t>
            </a:r>
          </a:p>
        </p:txBody>
      </p:sp>
      <p:sp>
        <p:nvSpPr>
          <p:cNvPr id="121" name="Text 27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3 / 9</a:t>
            </a:r>
          </a:p>
        </p:txBody>
      </p:sp>
      <p:sp>
        <p:nvSpPr>
          <p:cNvPr id="122" name="Shape 9"/>
          <p:cNvSpPr/>
          <p:nvPr/>
        </p:nvSpPr>
        <p:spPr>
          <a:xfrm>
            <a:off x="2743200" y="3121660"/>
            <a:ext cx="777241" cy="1"/>
          </a:xfrm>
          <a:prstGeom prst="line">
            <a:avLst/>
          </a:prstGeom>
          <a:ln w="25400" cap="rnd">
            <a:solidFill>
              <a:srgbClr val="14F195"/>
            </a:solidFill>
            <a:custDash>
              <a:ds d="100000" sp="200000"/>
            </a:custDash>
            <a:head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Shape 17"/>
          <p:cNvSpPr/>
          <p:nvPr/>
        </p:nvSpPr>
        <p:spPr>
          <a:xfrm>
            <a:off x="6172200" y="3121660"/>
            <a:ext cx="777241" cy="1"/>
          </a:xfrm>
          <a:prstGeom prst="line">
            <a:avLst/>
          </a:prstGeom>
          <a:ln w="25400" cap="rnd">
            <a:solidFill>
              <a:srgbClr val="14F195"/>
            </a:solidFill>
            <a:custDash>
              <a:ds d="100000" sp="200000"/>
            </a:custDash>
            <a:head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6"/>
          <p:cNvSpPr txBox="1"/>
          <p:nvPr/>
        </p:nvSpPr>
        <p:spPr>
          <a:xfrm>
            <a:off x="3512444" y="1431436"/>
            <a:ext cx="2576311" cy="553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70ED9D"/>
                </a:solidFill>
              </a:defRPr>
            </a:lvl1pPr>
          </a:lstStyle>
          <a:p>
            <a:pPr/>
            <a:r>
              <a:t>Gbits’ Hackathon Submission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9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03 — HOW IT WORKS</a:t>
            </a:r>
          </a:p>
        </p:txBody>
      </p:sp>
      <p:sp>
        <p:nvSpPr>
          <p:cNvPr id="127" name="Text 1"/>
          <p:cNvSpPr txBox="1"/>
          <p:nvPr/>
        </p:nvSpPr>
        <p:spPr>
          <a:xfrm>
            <a:off x="457200" y="640080"/>
            <a:ext cx="8229600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F4F7FB"/>
                </a:solidFill>
              </a:defRPr>
            </a:lvl1pPr>
          </a:lstStyle>
          <a:p>
            <a:pPr/>
            <a:r>
              <a:t>Solana transaction → ISO 20022 camt.053 | camt.054</a:t>
            </a:r>
          </a:p>
        </p:txBody>
      </p:sp>
      <p:sp>
        <p:nvSpPr>
          <p:cNvPr id="128" name="Text 2"/>
          <p:cNvSpPr txBox="1"/>
          <p:nvPr/>
        </p:nvSpPr>
        <p:spPr>
          <a:xfrm>
            <a:off x="457200" y="1402519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B0BACA"/>
                </a:solidFill>
              </a:defRPr>
            </a:lvl1pPr>
          </a:lstStyle>
          <a:p>
            <a:pPr/>
            <a:r>
              <a:t>Every on-chain Stablecoin transfer maps to a structured bank statement entry.</a:t>
            </a:r>
          </a:p>
        </p:txBody>
      </p:sp>
      <p:sp>
        <p:nvSpPr>
          <p:cNvPr id="129" name="Shape 3"/>
          <p:cNvSpPr/>
          <p:nvPr/>
        </p:nvSpPr>
        <p:spPr>
          <a:xfrm>
            <a:off x="457200" y="1828800"/>
            <a:ext cx="3657600" cy="3657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Shape 4"/>
          <p:cNvSpPr/>
          <p:nvPr/>
        </p:nvSpPr>
        <p:spPr>
          <a:xfrm>
            <a:off x="594359" y="1947672"/>
            <a:ext cx="137161" cy="137161"/>
          </a:xfrm>
          <a:prstGeom prst="ellipse">
            <a:avLst/>
          </a:prstGeom>
          <a:solidFill>
            <a:srgbClr val="9945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5"/>
          <p:cNvSpPr txBox="1"/>
          <p:nvPr/>
        </p:nvSpPr>
        <p:spPr>
          <a:xfrm>
            <a:off x="822960" y="1935479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SOLANA RPC  ·  ON-CHAIN</a:t>
            </a:r>
          </a:p>
        </p:txBody>
      </p:sp>
      <p:sp>
        <p:nvSpPr>
          <p:cNvPr id="132" name="Shape 6"/>
          <p:cNvSpPr/>
          <p:nvPr/>
        </p:nvSpPr>
        <p:spPr>
          <a:xfrm>
            <a:off x="5029200" y="1828800"/>
            <a:ext cx="3657600" cy="3657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7"/>
          <p:cNvSpPr/>
          <p:nvPr/>
        </p:nvSpPr>
        <p:spPr>
          <a:xfrm>
            <a:off x="5166359" y="1947672"/>
            <a:ext cx="137161" cy="137161"/>
          </a:xfrm>
          <a:prstGeom prst="ellipse">
            <a:avLst/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8"/>
          <p:cNvSpPr txBox="1"/>
          <p:nvPr/>
        </p:nvSpPr>
        <p:spPr>
          <a:xfrm>
            <a:off x="5394959" y="1935479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ISO 20022 camt.053  ·  XML</a:t>
            </a:r>
          </a:p>
        </p:txBody>
      </p:sp>
      <p:sp>
        <p:nvSpPr>
          <p:cNvPr id="135" name="Shape 9"/>
          <p:cNvSpPr/>
          <p:nvPr/>
        </p:nvSpPr>
        <p:spPr>
          <a:xfrm>
            <a:off x="457200" y="2194560"/>
            <a:ext cx="3657600" cy="22860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10"/>
          <p:cNvSpPr txBox="1"/>
          <p:nvPr/>
        </p:nvSpPr>
        <p:spPr>
          <a:xfrm>
            <a:off x="640079" y="2331720"/>
            <a:ext cx="3291842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B0BAC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"signature":  </a:t>
            </a:r>
            <a:r>
              <a:rPr>
                <a:solidFill>
                  <a:srgbClr val="9945FF"/>
                </a:solidFill>
              </a:rPr>
              <a:t>"4sGjMW1..."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"amount":     </a:t>
            </a:r>
            <a:r>
              <a:rPr>
                <a:solidFill>
                  <a:srgbClr val="F59E0B"/>
                </a:solidFill>
              </a:rPr>
              <a:t>1949.75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"token":      </a:t>
            </a:r>
            <a:r>
              <a:rPr>
                <a:solidFill>
                  <a:srgbClr val="00D1FF"/>
                </a:solidFill>
              </a:rPr>
              <a:t>"VCHF"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"from":       </a:t>
            </a:r>
            <a:r>
              <a:rPr>
                <a:solidFill>
                  <a:srgbClr val="9945FF"/>
                </a:solidFill>
              </a:rPr>
              <a:t>"7xKXtg2C..."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"to":         </a:t>
            </a:r>
            <a:r>
              <a:rPr>
                <a:solidFill>
                  <a:srgbClr val="9945FF"/>
                </a:solidFill>
              </a:rPr>
              <a:t>"9mYR4jLe..."</a:t>
            </a:r>
          </a:p>
          <a:p>
            <a:pPr>
              <a:defRPr sz="11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"memo":       </a:t>
            </a:r>
            <a:r>
              <a:rPr>
                <a:solidFill>
                  <a:srgbClr val="00D1FF"/>
                </a:solidFill>
              </a:rPr>
              <a:t>"QRR:21000..."</a:t>
            </a:r>
          </a:p>
          <a:p>
            <a:pPr>
              <a:defRPr sz="1100">
                <a:solidFill>
                  <a:srgbClr val="B0BAC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137" name="Shape 11"/>
          <p:cNvSpPr/>
          <p:nvPr/>
        </p:nvSpPr>
        <p:spPr>
          <a:xfrm>
            <a:off x="5029200" y="2194560"/>
            <a:ext cx="3657600" cy="228600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12"/>
          <p:cNvSpPr txBox="1"/>
          <p:nvPr/>
        </p:nvSpPr>
        <p:spPr>
          <a:xfrm>
            <a:off x="5212079" y="2331720"/>
            <a:ext cx="3291842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&lt;BkToCstmrStmt&gt;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&lt;Stmt&gt;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&lt;Ntry&gt;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&lt;Amt Ccy="</a:t>
            </a:r>
            <a:r>
              <a:rPr>
                <a:solidFill>
                  <a:srgbClr val="00D1FF"/>
                </a:solidFill>
              </a:rPr>
              <a:t>CHF</a:t>
            </a:r>
            <a:r>
              <a:t>"&gt;</a:t>
            </a:r>
            <a:r>
              <a:rPr>
                <a:solidFill>
                  <a:srgbClr val="F59E0B"/>
                </a:solidFill>
              </a:rPr>
              <a:t>1949.75</a:t>
            </a:r>
            <a:r>
              <a:t>&lt;/Amt&gt;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&lt;AcctSvcrRef&gt;</a:t>
            </a:r>
          </a:p>
          <a:p>
            <a:pPr>
              <a:defRPr sz="1000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4sGjMW1sU...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&lt;/AcctSvcrRef&gt;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&lt;CdtrRefInf&gt;&lt;Ref&gt;</a:t>
            </a:r>
          </a:p>
          <a:p>
            <a:pPr>
              <a:defRPr sz="1000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21000000000313...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&lt;/Ref&gt;&lt;/CdtrRefInf&gt;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&lt;/Ntry&gt;</a:t>
            </a:r>
          </a:p>
          <a:p>
            <a:pPr>
              <a:defRPr sz="10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&lt;/BkToCstmrStmt&gt;</a:t>
            </a:r>
          </a:p>
        </p:txBody>
      </p:sp>
      <p:sp>
        <p:nvSpPr>
          <p:cNvPr id="139" name="Shape 13"/>
          <p:cNvSpPr/>
          <p:nvPr/>
        </p:nvSpPr>
        <p:spPr>
          <a:xfrm>
            <a:off x="4160520" y="2880360"/>
            <a:ext cx="822961" cy="502921"/>
          </a:xfrm>
          <a:prstGeom prst="roundRect">
            <a:avLst>
              <a:gd name="adj" fmla="val 14545"/>
            </a:avLst>
          </a:prstGeom>
          <a:solidFill>
            <a:srgbClr val="060D18"/>
          </a:solidFill>
          <a:ln w="19050">
            <a:solidFill>
              <a:srgbClr val="14F19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14"/>
          <p:cNvSpPr txBox="1"/>
          <p:nvPr/>
        </p:nvSpPr>
        <p:spPr>
          <a:xfrm>
            <a:off x="4160520" y="2984851"/>
            <a:ext cx="82296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14F195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1" name="Shape 1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16"/>
          <p:cNvSpPr txBox="1"/>
          <p:nvPr/>
        </p:nvSpPr>
        <p:spPr>
          <a:xfrm>
            <a:off x="457200" y="4597102"/>
            <a:ext cx="8229600" cy="178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14F195"/>
                </a:solidFill>
              </a:defRPr>
            </a:pPr>
            <a:r>
              <a:t>QR Reference  </a:t>
            </a:r>
            <a:r>
              <a:rPr b="0">
                <a:solidFill>
                  <a:srgbClr val="B0BACA"/>
                </a:solidFill>
              </a:rPr>
              <a:t>in memo → </a:t>
            </a:r>
            <a:r>
              <a:rPr b="0">
                <a:latin typeface="Consolas"/>
                <a:ea typeface="Consolas"/>
                <a:cs typeface="Consolas"/>
                <a:sym typeface="Consolas"/>
              </a:rPr>
              <a:t>&lt;CdtrRefInf&gt;</a:t>
            </a:r>
            <a:r>
              <a:rPr b="0">
                <a:solidFill>
                  <a:srgbClr val="B0BACA"/>
                </a:solidFill>
              </a:rPr>
              <a:t>  ·  Auto-reconciliation in any ERP</a:t>
            </a:r>
          </a:p>
        </p:txBody>
      </p:sp>
      <p:sp>
        <p:nvSpPr>
          <p:cNvPr id="143" name="Text 18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 /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9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04 — LIVE APP</a:t>
            </a:r>
          </a:p>
        </p:txBody>
      </p:sp>
      <p:sp>
        <p:nvSpPr>
          <p:cNvPr id="146" name="Text 1"/>
          <p:cNvSpPr txBox="1"/>
          <p:nvPr/>
        </p:nvSpPr>
        <p:spPr>
          <a:xfrm>
            <a:off x="457200" y="640080"/>
            <a:ext cx="8229600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F4F7FB"/>
                </a:solidFill>
              </a:defRPr>
            </a:lvl1pPr>
          </a:lstStyle>
          <a:p>
            <a:pPr/>
            <a:r>
              <a:t>How it works for the user</a:t>
            </a:r>
          </a:p>
        </p:txBody>
      </p:sp>
      <p:sp>
        <p:nvSpPr>
          <p:cNvPr id="147" name="Text 2"/>
          <p:cNvSpPr txBox="1"/>
          <p:nvPr/>
        </p:nvSpPr>
        <p:spPr>
          <a:xfrm>
            <a:off x="457200" y="1097719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300">
                <a:solidFill>
                  <a:srgbClr val="B0BACA"/>
                </a:solidFill>
              </a:defRPr>
            </a:pPr>
            <a:r>
              <a:t>The gateway runs live at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https://iso.gbits.io</a:t>
            </a:r>
            <a:r>
              <a:t>  </a:t>
            </a:r>
          </a:p>
        </p:txBody>
      </p:sp>
      <p:sp>
        <p:nvSpPr>
          <p:cNvPr id="148" name="Text 14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5 / 9</a:t>
            </a:r>
          </a:p>
        </p:txBody>
      </p:sp>
      <p:pic>
        <p:nvPicPr>
          <p:cNvPr id="149" name="eingesetzter-Film.png" descr="eingesetzter-Fil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39275" y="1573091"/>
            <a:ext cx="3582359" cy="1004808"/>
          </a:xfrm>
          <a:prstGeom prst="rect">
            <a:avLst/>
          </a:prstGeom>
          <a:ln w="6350">
            <a:solidFill>
              <a:srgbClr val="00FDFF"/>
            </a:solidFill>
          </a:ln>
        </p:spPr>
      </p:pic>
      <p:pic>
        <p:nvPicPr>
          <p:cNvPr id="150" name="eingesetzter-Film.png" descr="eingesetzter-Fil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85567" y="1573091"/>
            <a:ext cx="2280611" cy="1036642"/>
          </a:xfrm>
          <a:prstGeom prst="rect">
            <a:avLst/>
          </a:prstGeom>
          <a:ln w="6350">
            <a:solidFill>
              <a:srgbClr val="00FDFF"/>
            </a:solidFill>
          </a:ln>
        </p:spPr>
      </p:pic>
      <p:pic>
        <p:nvPicPr>
          <p:cNvPr id="151" name="eingesetzter-Film.png" descr="eingesetzter-Fil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96587" y="2886948"/>
            <a:ext cx="4009439" cy="1439073"/>
          </a:xfrm>
          <a:prstGeom prst="rect">
            <a:avLst/>
          </a:prstGeom>
          <a:ln w="6350">
            <a:solidFill>
              <a:srgbClr val="00FDFF"/>
            </a:solidFill>
          </a:ln>
        </p:spPr>
      </p:pic>
      <p:pic>
        <p:nvPicPr>
          <p:cNvPr id="152" name="eingesetzter-Film.png" descr="eingesetzter-Fil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146005" y="2858318"/>
            <a:ext cx="3568899" cy="1439073"/>
          </a:xfrm>
          <a:prstGeom prst="rect">
            <a:avLst/>
          </a:prstGeom>
          <a:ln w="6350">
            <a:solidFill>
              <a:srgbClr val="00FDFF"/>
            </a:solidFill>
          </a:ln>
        </p:spPr>
      </p:pic>
      <p:pic>
        <p:nvPicPr>
          <p:cNvPr id="153" name="eingesetzter-Film.png" descr="eingesetzter-Film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001191" y="1562249"/>
            <a:ext cx="1789197" cy="1042992"/>
          </a:xfrm>
          <a:prstGeom prst="rect">
            <a:avLst/>
          </a:prstGeom>
          <a:ln w="6350">
            <a:solidFill>
              <a:srgbClr val="74F9FD"/>
            </a:solidFill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9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04 — LIVE APP</a:t>
            </a:r>
          </a:p>
        </p:txBody>
      </p:sp>
      <p:sp>
        <p:nvSpPr>
          <p:cNvPr id="156" name="Text 1"/>
          <p:cNvSpPr txBox="1"/>
          <p:nvPr/>
        </p:nvSpPr>
        <p:spPr>
          <a:xfrm>
            <a:off x="457200" y="640080"/>
            <a:ext cx="8229600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600">
                <a:solidFill>
                  <a:srgbClr val="F4F7FB"/>
                </a:solidFill>
              </a:defRPr>
            </a:pPr>
            <a:r>
              <a:t>The result:   </a:t>
            </a:r>
            <a:r>
              <a:rPr b="0"/>
              <a:t>ISO 20022 reports ready for download, import</a:t>
            </a:r>
          </a:p>
        </p:txBody>
      </p:sp>
      <p:sp>
        <p:nvSpPr>
          <p:cNvPr id="157" name="Shape 4"/>
          <p:cNvSpPr/>
          <p:nvPr/>
        </p:nvSpPr>
        <p:spPr>
          <a:xfrm>
            <a:off x="457199" y="4511040"/>
            <a:ext cx="2023619" cy="3657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5"/>
          <p:cNvSpPr txBox="1"/>
          <p:nvPr/>
        </p:nvSpPr>
        <p:spPr>
          <a:xfrm>
            <a:off x="548640" y="4589343"/>
            <a:ext cx="54864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4F195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59" name="Text 6"/>
          <p:cNvSpPr txBox="1"/>
          <p:nvPr/>
        </p:nvSpPr>
        <p:spPr>
          <a:xfrm>
            <a:off x="1097280" y="4610539"/>
            <a:ext cx="122706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0BACA"/>
                </a:solidFill>
              </a:defRPr>
            </a:lvl1pPr>
          </a:lstStyle>
          <a:p>
            <a:pPr/>
            <a:r>
              <a:t>report types</a:t>
            </a:r>
          </a:p>
        </p:txBody>
      </p:sp>
      <p:sp>
        <p:nvSpPr>
          <p:cNvPr id="160" name="Shape 7"/>
          <p:cNvSpPr/>
          <p:nvPr/>
        </p:nvSpPr>
        <p:spPr>
          <a:xfrm>
            <a:off x="2754376" y="4511040"/>
            <a:ext cx="2670049" cy="3657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8"/>
          <p:cNvSpPr txBox="1"/>
          <p:nvPr/>
        </p:nvSpPr>
        <p:spPr>
          <a:xfrm>
            <a:off x="2845815" y="4589343"/>
            <a:ext cx="54864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0D1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2" name="Text 9"/>
          <p:cNvSpPr txBox="1"/>
          <p:nvPr/>
        </p:nvSpPr>
        <p:spPr>
          <a:xfrm>
            <a:off x="3203955" y="4610539"/>
            <a:ext cx="193852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0BACA"/>
                </a:solidFill>
              </a:defRPr>
            </a:lvl1pPr>
          </a:lstStyle>
          <a:p>
            <a:pPr/>
            <a:r>
              <a:t>currencies (USD · EUR · CHF)</a:t>
            </a:r>
          </a:p>
        </p:txBody>
      </p:sp>
      <p:sp>
        <p:nvSpPr>
          <p:cNvPr id="163" name="Shape 10"/>
          <p:cNvSpPr/>
          <p:nvPr/>
        </p:nvSpPr>
        <p:spPr>
          <a:xfrm>
            <a:off x="5686552" y="4511040"/>
            <a:ext cx="2299985" cy="36576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11"/>
          <p:cNvSpPr txBox="1"/>
          <p:nvPr/>
        </p:nvSpPr>
        <p:spPr>
          <a:xfrm>
            <a:off x="5803391" y="4589343"/>
            <a:ext cx="54864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9945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65" name="Text 12"/>
          <p:cNvSpPr txBox="1"/>
          <p:nvPr/>
        </p:nvSpPr>
        <p:spPr>
          <a:xfrm>
            <a:off x="6225031" y="4610539"/>
            <a:ext cx="156719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B0BACA"/>
                </a:solidFill>
              </a:defRPr>
            </a:lvl1pPr>
          </a:lstStyle>
          <a:p>
            <a:pPr/>
            <a:r>
              <a:t>stablecoins supported</a:t>
            </a:r>
          </a:p>
        </p:txBody>
      </p:sp>
      <p:sp>
        <p:nvSpPr>
          <p:cNvPr id="166" name="Text 14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6 / 9</a:t>
            </a:r>
          </a:p>
        </p:txBody>
      </p:sp>
      <p:pic>
        <p:nvPicPr>
          <p:cNvPr id="167" name="eingesetzter-Film.png" descr="eingesetzter-Fil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9241" y="1312396"/>
            <a:ext cx="7509836" cy="2914134"/>
          </a:xfrm>
          <a:prstGeom prst="rect">
            <a:avLst/>
          </a:prstGeom>
          <a:ln w="6350">
            <a:solidFill>
              <a:srgbClr val="74F9FD"/>
            </a:solidFill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9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05 — PROOF</a:t>
            </a:r>
          </a:p>
        </p:txBody>
      </p:sp>
      <p:sp>
        <p:nvSpPr>
          <p:cNvPr id="170" name="Text 1"/>
          <p:cNvSpPr txBox="1"/>
          <p:nvPr/>
        </p:nvSpPr>
        <p:spPr>
          <a:xfrm>
            <a:off x="457200" y="640080"/>
            <a:ext cx="8229600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800">
                <a:solidFill>
                  <a:srgbClr val="F4F7FB"/>
                </a:solidFill>
              </a:defRPr>
            </a:pPr>
            <a:r>
              <a:t>Successfully imported into </a:t>
            </a:r>
            <a:r>
              <a:rPr>
                <a:solidFill>
                  <a:srgbClr val="14F195"/>
                </a:solidFill>
              </a:rPr>
              <a:t>Bexio</a:t>
            </a:r>
            <a:r>
              <a:t> Accounting SaaS App.</a:t>
            </a:r>
          </a:p>
        </p:txBody>
      </p:sp>
      <p:sp>
        <p:nvSpPr>
          <p:cNvPr id="171" name="Shape 3"/>
          <p:cNvSpPr/>
          <p:nvPr/>
        </p:nvSpPr>
        <p:spPr>
          <a:xfrm>
            <a:off x="1864580" y="1783079"/>
            <a:ext cx="5414840" cy="2468882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7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7258" y="1076367"/>
            <a:ext cx="6983341" cy="3118774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Shape 4"/>
          <p:cNvSpPr/>
          <p:nvPr/>
        </p:nvSpPr>
        <p:spPr>
          <a:xfrm>
            <a:off x="457199" y="4343400"/>
            <a:ext cx="2200150" cy="41148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5"/>
          <p:cNvSpPr txBox="1"/>
          <p:nvPr/>
        </p:nvSpPr>
        <p:spPr>
          <a:xfrm>
            <a:off x="548640" y="4428316"/>
            <a:ext cx="73152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4F195"/>
                </a:solidFill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175" name="Text 6"/>
          <p:cNvSpPr txBox="1"/>
          <p:nvPr/>
        </p:nvSpPr>
        <p:spPr>
          <a:xfrm>
            <a:off x="988733" y="4470707"/>
            <a:ext cx="152704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0BACA"/>
                </a:solidFill>
              </a:defRPr>
            </a:lvl1pPr>
          </a:lstStyle>
          <a:p>
            <a:pPr/>
            <a:r>
              <a:t>transactions imported</a:t>
            </a:r>
          </a:p>
        </p:txBody>
      </p:sp>
      <p:sp>
        <p:nvSpPr>
          <p:cNvPr id="176" name="Shape 7"/>
          <p:cNvSpPr/>
          <p:nvPr/>
        </p:nvSpPr>
        <p:spPr>
          <a:xfrm>
            <a:off x="2953267" y="4343400"/>
            <a:ext cx="2670049" cy="41148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9"/>
          <p:cNvSpPr txBox="1"/>
          <p:nvPr/>
        </p:nvSpPr>
        <p:spPr>
          <a:xfrm>
            <a:off x="3044951" y="4470707"/>
            <a:ext cx="2322608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0BACA"/>
                </a:solidFill>
              </a:defRPr>
            </a:lvl1pPr>
          </a:lstStyle>
          <a:p>
            <a:pPr/>
            <a:r>
              <a:t>Field mapping documented in detail </a:t>
            </a:r>
          </a:p>
        </p:txBody>
      </p:sp>
      <p:sp>
        <p:nvSpPr>
          <p:cNvPr id="178" name="Shape 10"/>
          <p:cNvSpPr/>
          <p:nvPr/>
        </p:nvSpPr>
        <p:spPr>
          <a:xfrm>
            <a:off x="5927852" y="4343400"/>
            <a:ext cx="2670049" cy="411481"/>
          </a:xfrm>
          <a:prstGeom prst="rect">
            <a:avLst/>
          </a:prstGeom>
          <a:solidFill>
            <a:srgbClr val="0F1A2E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11"/>
          <p:cNvSpPr txBox="1"/>
          <p:nvPr/>
        </p:nvSpPr>
        <p:spPr>
          <a:xfrm>
            <a:off x="6019291" y="4447540"/>
            <a:ext cx="2743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59E0B"/>
                </a:solidFill>
              </a:defRPr>
            </a:lvl1pPr>
          </a:lstStyle>
          <a:p>
            <a:pPr/>
            <a:r>
              <a:t>ⓘ</a:t>
            </a:r>
          </a:p>
        </p:txBody>
      </p:sp>
      <p:sp>
        <p:nvSpPr>
          <p:cNvPr id="180" name="Text 12"/>
          <p:cNvSpPr txBox="1"/>
          <p:nvPr/>
        </p:nvSpPr>
        <p:spPr>
          <a:xfrm>
            <a:off x="6293611" y="4422053"/>
            <a:ext cx="221285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F59E0B"/>
                </a:solidFill>
              </a:defRPr>
            </a:pPr>
            <a:r>
              <a:t>Disclaimer: </a:t>
            </a:r>
            <a:r>
              <a:rPr b="0">
                <a:solidFill>
                  <a:srgbClr val="B0BACA"/>
                </a:solidFill>
              </a:rPr>
              <a:t>some field mapping issues still to be fixed</a:t>
            </a:r>
          </a:p>
        </p:txBody>
      </p:sp>
      <p:sp>
        <p:nvSpPr>
          <p:cNvPr id="181" name="Text 14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7 /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9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07 — ROADMAP</a:t>
            </a:r>
          </a:p>
        </p:txBody>
      </p:sp>
      <p:sp>
        <p:nvSpPr>
          <p:cNvPr id="184" name="Text 1"/>
          <p:cNvSpPr txBox="1"/>
          <p:nvPr/>
        </p:nvSpPr>
        <p:spPr>
          <a:xfrm>
            <a:off x="457200" y="652780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F4F7FB"/>
                </a:solidFill>
              </a:defRPr>
            </a:lvl1pPr>
          </a:lstStyle>
          <a:p>
            <a:pPr/>
            <a:r>
              <a:t>Roadmap</a:t>
            </a:r>
          </a:p>
        </p:txBody>
      </p:sp>
      <p:sp>
        <p:nvSpPr>
          <p:cNvPr id="185" name="Shape 3"/>
          <p:cNvSpPr/>
          <p:nvPr/>
        </p:nvSpPr>
        <p:spPr>
          <a:xfrm>
            <a:off x="457199" y="1907539"/>
            <a:ext cx="2621282" cy="237744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4"/>
          <p:cNvSpPr/>
          <p:nvPr/>
        </p:nvSpPr>
        <p:spPr>
          <a:xfrm>
            <a:off x="457199" y="1907539"/>
            <a:ext cx="2621282" cy="54865"/>
          </a:xfrm>
          <a:prstGeom prst="rect">
            <a:avLst/>
          </a:prstGeom>
          <a:solidFill>
            <a:srgbClr val="14F19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5"/>
          <p:cNvSpPr txBox="1"/>
          <p:nvPr/>
        </p:nvSpPr>
        <p:spPr>
          <a:xfrm>
            <a:off x="640079" y="2116582"/>
            <a:ext cx="22555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DONE — 2024</a:t>
            </a:r>
          </a:p>
        </p:txBody>
      </p:sp>
      <p:sp>
        <p:nvSpPr>
          <p:cNvPr id="188" name="Text 9"/>
          <p:cNvSpPr txBox="1"/>
          <p:nvPr/>
        </p:nvSpPr>
        <p:spPr>
          <a:xfrm>
            <a:off x="640079" y="2867660"/>
            <a:ext cx="2255522" cy="842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4F7FB"/>
                </a:solidFill>
              </a:defRPr>
            </a:pPr>
            <a:r>
              <a:t>Pay Swiss QR invoices with Stablecoins</a:t>
            </a:r>
          </a:p>
          <a:p>
            <a:pPr>
              <a:defRPr b="1" sz="1500">
                <a:solidFill>
                  <a:srgbClr val="F4F7FB"/>
                </a:solidFill>
              </a:defRPr>
            </a:pPr>
            <a:r>
              <a:rPr>
                <a:solidFill>
                  <a:srgbClr val="14F195"/>
                </a:solidFill>
              </a:rPr>
              <a:t>Solana </a:t>
            </a:r>
            <a:endParaRPr>
              <a:solidFill>
                <a:srgbClr val="14F195"/>
              </a:solidFill>
            </a:endParaRPr>
          </a:p>
          <a:p>
            <a:pPr>
              <a:defRPr sz="1200">
                <a:solidFill>
                  <a:srgbClr val="F4F7FB"/>
                </a:solidFill>
              </a:defRPr>
            </a:pPr>
            <a:r>
              <a:t>VCHF, USDC, PyUSD, EURC, </a:t>
            </a:r>
          </a:p>
        </p:txBody>
      </p:sp>
      <p:sp>
        <p:nvSpPr>
          <p:cNvPr id="189" name="Text 11"/>
          <p:cNvSpPr txBox="1"/>
          <p:nvPr/>
        </p:nvSpPr>
        <p:spPr>
          <a:xfrm>
            <a:off x="640079" y="4040632"/>
            <a:ext cx="2255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app.gbits.io</a:t>
            </a:r>
          </a:p>
        </p:txBody>
      </p:sp>
      <p:sp>
        <p:nvSpPr>
          <p:cNvPr id="190" name="Shape 12"/>
          <p:cNvSpPr/>
          <p:nvPr/>
        </p:nvSpPr>
        <p:spPr>
          <a:xfrm>
            <a:off x="3261359" y="1907539"/>
            <a:ext cx="2621281" cy="237744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Shape 13"/>
          <p:cNvSpPr/>
          <p:nvPr/>
        </p:nvSpPr>
        <p:spPr>
          <a:xfrm>
            <a:off x="3261359" y="1907539"/>
            <a:ext cx="2621281" cy="54865"/>
          </a:xfrm>
          <a:prstGeom prst="rect">
            <a:avLst/>
          </a:prstGeom>
          <a:solidFill>
            <a:srgbClr val="00D1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14"/>
          <p:cNvSpPr txBox="1"/>
          <p:nvPr/>
        </p:nvSpPr>
        <p:spPr>
          <a:xfrm>
            <a:off x="3444240" y="2116582"/>
            <a:ext cx="2255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NOW — HACKATHON</a:t>
            </a:r>
          </a:p>
        </p:txBody>
      </p:sp>
      <p:sp>
        <p:nvSpPr>
          <p:cNvPr id="193" name="Shape 16"/>
          <p:cNvSpPr/>
          <p:nvPr/>
        </p:nvSpPr>
        <p:spPr>
          <a:xfrm>
            <a:off x="3441700" y="2374900"/>
            <a:ext cx="822961" cy="292609"/>
          </a:xfrm>
          <a:prstGeom prst="roundRect">
            <a:avLst>
              <a:gd name="adj" fmla="val 18750"/>
            </a:avLst>
          </a:prstGeom>
          <a:solidFill>
            <a:srgbClr val="060D18"/>
          </a:solidFill>
          <a:ln w="12700">
            <a:solidFill>
              <a:srgbClr val="00D1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17"/>
          <p:cNvSpPr txBox="1"/>
          <p:nvPr/>
        </p:nvSpPr>
        <p:spPr>
          <a:xfrm>
            <a:off x="3441700" y="2438654"/>
            <a:ext cx="82296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75" sz="1100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Beta</a:t>
            </a:r>
          </a:p>
        </p:txBody>
      </p:sp>
      <p:sp>
        <p:nvSpPr>
          <p:cNvPr id="195" name="Text 18"/>
          <p:cNvSpPr txBox="1"/>
          <p:nvPr/>
        </p:nvSpPr>
        <p:spPr>
          <a:xfrm>
            <a:off x="3444240" y="2867660"/>
            <a:ext cx="2255521" cy="842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4F7FB"/>
                </a:solidFill>
              </a:defRPr>
            </a:pPr>
            <a:r>
              <a:t>ISO 20022 Gateway for </a:t>
            </a:r>
          </a:p>
          <a:p>
            <a:pPr>
              <a:defRPr b="1" sz="1500">
                <a:solidFill>
                  <a:srgbClr val="F4F7FB"/>
                </a:solidFill>
              </a:defRPr>
            </a:pPr>
          </a:p>
          <a:p>
            <a:pPr>
              <a:defRPr b="1" sz="1500">
                <a:solidFill>
                  <a:srgbClr val="F4F7FB"/>
                </a:solidFill>
              </a:defRPr>
            </a:pPr>
            <a:r>
              <a:rPr>
                <a:solidFill>
                  <a:srgbClr val="14F195"/>
                </a:solidFill>
              </a:rPr>
              <a:t>Solana </a:t>
            </a:r>
            <a:endParaRPr>
              <a:solidFill>
                <a:srgbClr val="14F195"/>
              </a:solidFill>
            </a:endParaRPr>
          </a:p>
          <a:p>
            <a:pPr>
              <a:defRPr sz="1200">
                <a:solidFill>
                  <a:srgbClr val="F4F7FB"/>
                </a:solidFill>
              </a:defRPr>
            </a:pPr>
            <a:r>
              <a:t>VCHF, USDC, PyUSD, EURC, </a:t>
            </a:r>
          </a:p>
        </p:txBody>
      </p:sp>
      <p:sp>
        <p:nvSpPr>
          <p:cNvPr id="196" name="Text 20"/>
          <p:cNvSpPr txBox="1"/>
          <p:nvPr/>
        </p:nvSpPr>
        <p:spPr>
          <a:xfrm>
            <a:off x="3444240" y="4040632"/>
            <a:ext cx="225552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iso.gbits.io</a:t>
            </a:r>
          </a:p>
        </p:txBody>
      </p:sp>
      <p:sp>
        <p:nvSpPr>
          <p:cNvPr id="197" name="Shape 21"/>
          <p:cNvSpPr/>
          <p:nvPr/>
        </p:nvSpPr>
        <p:spPr>
          <a:xfrm>
            <a:off x="6065520" y="1907539"/>
            <a:ext cx="2621281" cy="2377441"/>
          </a:xfrm>
          <a:prstGeom prst="rect">
            <a:avLst/>
          </a:prstGeom>
          <a:solidFill>
            <a:srgbClr val="0F1A2E"/>
          </a:solidFill>
          <a:ln w="12700">
            <a:solidFill>
              <a:srgbClr val="1F2D4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Shape 22"/>
          <p:cNvSpPr/>
          <p:nvPr/>
        </p:nvSpPr>
        <p:spPr>
          <a:xfrm>
            <a:off x="6065520" y="1907539"/>
            <a:ext cx="2621281" cy="54865"/>
          </a:xfrm>
          <a:prstGeom prst="rect">
            <a:avLst/>
          </a:prstGeom>
          <a:solidFill>
            <a:srgbClr val="9945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23"/>
          <p:cNvSpPr txBox="1"/>
          <p:nvPr/>
        </p:nvSpPr>
        <p:spPr>
          <a:xfrm>
            <a:off x="6248400" y="2116582"/>
            <a:ext cx="2255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9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NEXT — Q3 2026</a:t>
            </a:r>
          </a:p>
        </p:txBody>
      </p:sp>
      <p:sp>
        <p:nvSpPr>
          <p:cNvPr id="200" name="Shape 25"/>
          <p:cNvSpPr/>
          <p:nvPr/>
        </p:nvSpPr>
        <p:spPr>
          <a:xfrm>
            <a:off x="6220459" y="2362200"/>
            <a:ext cx="822961" cy="292609"/>
          </a:xfrm>
          <a:prstGeom prst="roundRect">
            <a:avLst>
              <a:gd name="adj" fmla="val 18750"/>
            </a:avLst>
          </a:prstGeom>
          <a:solidFill>
            <a:srgbClr val="060D18"/>
          </a:solidFill>
          <a:ln w="12700">
            <a:solidFill>
              <a:srgbClr val="9945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26"/>
          <p:cNvSpPr txBox="1"/>
          <p:nvPr/>
        </p:nvSpPr>
        <p:spPr>
          <a:xfrm>
            <a:off x="6220459" y="2432304"/>
            <a:ext cx="8229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50" sz="1000">
                <a:solidFill>
                  <a:srgbClr val="9945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TODO</a:t>
            </a:r>
          </a:p>
        </p:txBody>
      </p:sp>
      <p:sp>
        <p:nvSpPr>
          <p:cNvPr id="202" name="Text 27"/>
          <p:cNvSpPr txBox="1"/>
          <p:nvPr/>
        </p:nvSpPr>
        <p:spPr>
          <a:xfrm>
            <a:off x="6248400" y="2867660"/>
            <a:ext cx="2255521" cy="1223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4F7FB"/>
                </a:solidFill>
              </a:defRPr>
            </a:pPr>
            <a:r>
              <a:t>ISO 20022 Gateway for </a:t>
            </a:r>
            <a:r>
              <a:rPr>
                <a:solidFill>
                  <a:srgbClr val="9945FF"/>
                </a:solidFill>
              </a:rPr>
              <a:t>Ethereum for CHF Stablecoins</a:t>
            </a:r>
            <a:endParaRPr>
              <a:solidFill>
                <a:srgbClr val="9945FF"/>
              </a:solidFill>
            </a:endParaRPr>
          </a:p>
          <a:p>
            <a:pPr>
              <a:defRPr b="1" sz="1200">
                <a:solidFill>
                  <a:srgbClr val="F4F7FB"/>
                </a:solidFill>
              </a:defRPr>
            </a:pPr>
            <a:r>
              <a:rPr b="0">
                <a:solidFill>
                  <a:srgbClr val="FFFFFF"/>
                </a:solidFill>
              </a:rPr>
              <a:t>AllUnity - CHFAU</a:t>
            </a:r>
            <a:endParaRPr b="0">
              <a:solidFill>
                <a:srgbClr val="FFFFFF"/>
              </a:solidFill>
            </a:endParaRPr>
          </a:p>
          <a:p>
            <a:pPr>
              <a:defRPr b="1" sz="1200">
                <a:solidFill>
                  <a:srgbClr val="F4F7FB"/>
                </a:solidFill>
              </a:defRPr>
            </a:pPr>
            <a:r>
              <a:rPr b="0">
                <a:solidFill>
                  <a:srgbClr val="FFFFFF"/>
                </a:solidFill>
              </a:rPr>
              <a:t>Frankencoin - ZCHF</a:t>
            </a:r>
            <a:endParaRPr b="0">
              <a:solidFill>
                <a:srgbClr val="FFFFFF"/>
              </a:solidFill>
            </a:endParaRPr>
          </a:p>
          <a:p>
            <a:pPr>
              <a:defRPr b="1" sz="1200">
                <a:solidFill>
                  <a:srgbClr val="F4F7FB"/>
                </a:solidFill>
              </a:defRPr>
            </a:pPr>
            <a:r>
              <a:rPr b="0">
                <a:solidFill>
                  <a:srgbClr val="FFFFFF"/>
                </a:solidFill>
              </a:rPr>
              <a:t>Swiss Stablecoin from banks </a:t>
            </a:r>
          </a:p>
        </p:txBody>
      </p:sp>
      <p:sp>
        <p:nvSpPr>
          <p:cNvPr id="203" name="Text 33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8 / 9</a:t>
            </a:r>
          </a:p>
        </p:txBody>
      </p:sp>
      <p:sp>
        <p:nvSpPr>
          <p:cNvPr id="204" name="Text 6"/>
          <p:cNvSpPr txBox="1"/>
          <p:nvPr/>
        </p:nvSpPr>
        <p:spPr>
          <a:xfrm>
            <a:off x="3512444" y="1380636"/>
            <a:ext cx="211911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 u="sng">
                <a:solidFill>
                  <a:srgbClr val="00FDFF"/>
                </a:solidFill>
              </a:defRPr>
            </a:lvl1pPr>
          </a:lstStyle>
          <a:p>
            <a:pPr/>
            <a:r>
              <a:t>* this hackathon * </a:t>
            </a:r>
          </a:p>
        </p:txBody>
      </p:sp>
      <p:sp>
        <p:nvSpPr>
          <p:cNvPr id="205" name="Text 6"/>
          <p:cNvSpPr txBox="1"/>
          <p:nvPr/>
        </p:nvSpPr>
        <p:spPr>
          <a:xfrm>
            <a:off x="6638244" y="1380636"/>
            <a:ext cx="1810217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8E4AF6"/>
                </a:solidFill>
              </a:defRPr>
            </a:lvl1pPr>
          </a:lstStyle>
          <a:p>
            <a:pPr/>
            <a:r>
              <a:t>Upcoming</a:t>
            </a:r>
          </a:p>
        </p:txBody>
      </p:sp>
      <p:sp>
        <p:nvSpPr>
          <p:cNvPr id="206" name="Text 6"/>
          <p:cNvSpPr txBox="1"/>
          <p:nvPr/>
        </p:nvSpPr>
        <p:spPr>
          <a:xfrm>
            <a:off x="645179" y="1348468"/>
            <a:ext cx="2337746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70ED9D"/>
                </a:solidFill>
              </a:defRPr>
            </a:lvl1pPr>
          </a:lstStyle>
          <a:p>
            <a:pPr/>
            <a:r>
              <a:t>previous hackathons </a:t>
            </a:r>
          </a:p>
        </p:txBody>
      </p:sp>
      <p:sp>
        <p:nvSpPr>
          <p:cNvPr id="207" name="Shape 16"/>
          <p:cNvSpPr/>
          <p:nvPr/>
        </p:nvSpPr>
        <p:spPr>
          <a:xfrm>
            <a:off x="640079" y="2399657"/>
            <a:ext cx="822961" cy="292609"/>
          </a:xfrm>
          <a:prstGeom prst="roundRect">
            <a:avLst>
              <a:gd name="adj" fmla="val 18750"/>
            </a:avLst>
          </a:prstGeom>
          <a:solidFill>
            <a:srgbClr val="060D18"/>
          </a:solidFill>
          <a:ln w="12700">
            <a:solidFill>
              <a:srgbClr val="00D1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17"/>
          <p:cNvSpPr txBox="1"/>
          <p:nvPr/>
        </p:nvSpPr>
        <p:spPr>
          <a:xfrm>
            <a:off x="640079" y="2463412"/>
            <a:ext cx="82296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75" sz="1100">
                <a:solidFill>
                  <a:srgbClr val="00D1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 txBox="1"/>
          <p:nvPr/>
        </p:nvSpPr>
        <p:spPr>
          <a:xfrm>
            <a:off x="457200" y="387350"/>
            <a:ext cx="3657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900">
                <a:solidFill>
                  <a:srgbClr val="14F19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07 — ROADMAP</a:t>
            </a:r>
          </a:p>
        </p:txBody>
      </p:sp>
      <p:sp>
        <p:nvSpPr>
          <p:cNvPr id="211" name="Text 33"/>
          <p:cNvSpPr txBox="1"/>
          <p:nvPr/>
        </p:nvSpPr>
        <p:spPr>
          <a:xfrm>
            <a:off x="7818119" y="4851400"/>
            <a:ext cx="8229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800">
                <a:solidFill>
                  <a:srgbClr val="8090B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9 / 9</a:t>
            </a:r>
          </a:p>
        </p:txBody>
      </p:sp>
      <p:pic>
        <p:nvPicPr>
          <p:cNvPr id="212" name="eingesetzter-Film.png" descr="eingesetzter-Fil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82566" y="817604"/>
            <a:ext cx="3508292" cy="3508292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Text 1"/>
          <p:cNvSpPr txBox="1"/>
          <p:nvPr/>
        </p:nvSpPr>
        <p:spPr>
          <a:xfrm>
            <a:off x="457200" y="652780"/>
            <a:ext cx="82296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F4F7FB"/>
                </a:solidFill>
              </a:defRPr>
            </a:lvl1pPr>
          </a:lstStyle>
          <a:p>
            <a:pPr/>
            <a:r>
              <a:t>Try it ✨</a:t>
            </a:r>
          </a:p>
        </p:txBody>
      </p:sp>
      <p:sp>
        <p:nvSpPr>
          <p:cNvPr id="214" name="Text 1"/>
          <p:cNvSpPr txBox="1"/>
          <p:nvPr/>
        </p:nvSpPr>
        <p:spPr>
          <a:xfrm>
            <a:off x="538842" y="1476919"/>
            <a:ext cx="8229601" cy="268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500">
                <a:solidFill>
                  <a:srgbClr val="70ED9D"/>
                </a:solidFill>
              </a:defRPr>
            </a:pPr>
            <a:r>
              <a:t>Solana speaks ISO 20022 today.</a:t>
            </a:r>
          </a:p>
          <a:p>
            <a:pPr>
              <a:defRPr b="1" sz="2000">
                <a:solidFill>
                  <a:srgbClr val="8E4AF6"/>
                </a:solidFill>
              </a:defRPr>
            </a:pPr>
            <a:r>
              <a:t>EVM chains coming next.</a:t>
            </a:r>
          </a:p>
          <a:p>
            <a:pPr>
              <a:defRPr b="1" sz="2500">
                <a:solidFill>
                  <a:srgbClr val="F4F7FB"/>
                </a:solidFill>
              </a:defRPr>
            </a:pPr>
          </a:p>
          <a:p>
            <a:pPr>
              <a:defRPr sz="2100">
                <a:solidFill>
                  <a:srgbClr val="F4F7FB"/>
                </a:solidFill>
              </a:defRPr>
            </a:pPr>
            <a:r>
              <a:t>https://</a:t>
            </a:r>
            <a:r>
              <a:rPr b="1"/>
              <a:t>iso.gbits.io</a:t>
            </a:r>
          </a:p>
          <a:p>
            <a:pPr>
              <a:defRPr sz="2100">
                <a:solidFill>
                  <a:srgbClr val="F4F7FB"/>
                </a:solidFill>
              </a:defRPr>
            </a:pPr>
          </a:p>
          <a:p>
            <a:pPr>
              <a:defRPr sz="2100">
                <a:solidFill>
                  <a:srgbClr val="F4F7FB"/>
                </a:solidFill>
              </a:defRPr>
            </a:pPr>
            <a:r>
              <a:t>github.com/</a:t>
            </a:r>
            <a:r>
              <a:rPr b="1"/>
              <a:t>gbits-io/isofix</a:t>
            </a:r>
          </a:p>
          <a:p>
            <a:pPr>
              <a:defRPr sz="2100">
                <a:solidFill>
                  <a:srgbClr val="F4F7FB"/>
                </a:solidFill>
              </a:defRPr>
            </a:pPr>
          </a:p>
          <a:p>
            <a:pPr>
              <a:defRPr sz="2100">
                <a:solidFill>
                  <a:srgbClr val="F4F7FB"/>
                </a:solidFill>
              </a:defRPr>
            </a:pPr>
            <a:r>
              <a:t>romanix@gbits.io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